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005840"/>
            <a:ext cx="457200" cy="457200"/>
          </a:xfrm>
          <a:prstGeom prst="ellipse">
            <a:avLst/>
          </a:prstGeom>
          <a:solidFill>
            <a:srgbClr val="1F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1554480"/>
            <a:ext cx="256032" cy="25603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1828800"/>
            <a:ext cx="164592" cy="164592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Make hiring smarter.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ADCFC"/>
                </a:solidFill>
                <a:latin typeface="Calibri"/>
              </a:rPr>
              <a:t>An AI system that ranks candidates the way a great recruiter would 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ADCFC"/>
                </a:solidFill>
                <a:latin typeface="Calibri"/>
              </a:rPr>
              <a:t>reasoning about who actually fits, not who has the most keywords.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C4B6"/>
                </a:solidFill>
                <a:latin typeface="Calibri"/>
              </a:rPr>
              <a:t>Redrob  ·  Intelligent Candidate Discovery &amp; Ranking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485"/>
                </a:solidFill>
                <a:latin typeface="Calibri"/>
              </a:rPr>
              <a:t>Senior AI Engineer JD  ·  100,000-candidate pool  ·  Nimisha Agarwal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Keyword filters can't see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485"/>
                </a:solidFill>
                <a:latin typeface="Calibri"/>
              </a:rPr>
              <a:t>The dataset is built with four traps. A keyword/embedding matcher walks straight into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276856"/>
            <a:ext cx="548640" cy="548640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2240279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mbria"/>
              </a:rPr>
              <a:t>Keyword stuffers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C66"/>
                </a:solidFill>
                <a:latin typeface="Calibri"/>
              </a:rPr>
              <a:t>Non-engineering profiles padded with AI skill tags. Look perfect on paper; can't do the job.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6248" y="2276856"/>
            <a:ext cx="548640" cy="548640"/>
          </a:xfrm>
          <a:prstGeom prst="ellipse">
            <a:avLst/>
          </a:prstGeom>
          <a:solidFill>
            <a:srgbClr val="1F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40279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mbria"/>
              </a:rPr>
              <a:t>Plain-language Tier-5s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C66"/>
                </a:solidFill>
                <a:latin typeface="Calibri"/>
              </a:rPr>
              <a:t>Built a real recommendation system but never wrote “RAG” or “Pinecone.” Easy to miss.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05072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4315968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39" y="4279392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mbria"/>
              </a:rPr>
              <a:t>Behavioral twins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C66"/>
                </a:solidFill>
                <a:latin typeface="Calibri"/>
              </a:rPr>
              <a:t>Identical skills, opposite reachability — one responds to recruiters, one vanished months ago.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05072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6248" y="4315968"/>
            <a:ext cx="548640" cy="548640"/>
          </a:xfrm>
          <a:prstGeom prst="ellipse">
            <a:avLst/>
          </a:prstGeom>
          <a:solidFill>
            <a:srgbClr val="5A6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279392"/>
            <a:ext cx="411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mbria"/>
              </a:rPr>
              <a:t>Honeypots (~80)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C66"/>
                </a:solidFill>
                <a:latin typeface="Calibri"/>
              </a:rPr>
              <a:t>Subtly impossible profiles. Ranking them in your top 10 means you aren't reading profiles.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Rank on what the JD means, not what it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485"/>
                </a:solidFill>
                <a:latin typeface="Calibri"/>
              </a:rPr>
              <a:t>A great recruiter reads between the lines. So does this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5A6485"/>
                </a:solidFill>
                <a:latin typeface="Calibri"/>
              </a:rPr>
              <a:t>WHAT IT SAYS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1E2761"/>
                </a:solidFill>
                <a:latin typeface="Calibri"/>
              </a:rPr>
              <a:t>“5–9 years of experience”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1E2761"/>
                </a:solidFill>
                <a:latin typeface="Calibri"/>
              </a:rPr>
              <a:t>A list of 20+ skills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1E2761"/>
                </a:solidFill>
                <a:latin typeface="Calibri"/>
              </a:rPr>
              <a:t>“embeddings, vector DBs, NDCG”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1E2761"/>
                </a:solidFill>
                <a:latin typeface="Calibri"/>
              </a:rPr>
              <a:t>Location: Pune / Noida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28600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C4B6"/>
                </a:solidFill>
                <a:latin typeface="Calibri"/>
              </a:rPr>
              <a:t>WHAT IT MEANS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FFFFFF"/>
                </a:solidFill>
                <a:latin typeface="Calibri"/>
              </a:rPr>
              <a:t>A range, not a cutoff — senior judgment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FFFFFF"/>
                </a:solidFill>
                <a:latin typeface="Calibri"/>
              </a:rPr>
              <a:t>Shipped a ranking/search/recsys system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FFFFFF"/>
                </a:solidFill>
                <a:latin typeface="Calibri"/>
              </a:rPr>
              <a:t>at a product company, to real users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FFFFFF"/>
                </a:solidFill>
                <a:latin typeface="Calibri"/>
              </a:rPr>
              <a:t>Reachable &amp; open — or it's not a hire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One interpretable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485"/>
                </a:solidFill>
                <a:latin typeface="Calibri"/>
              </a:rPr>
              <a:t>Every term lives in [0,1], so the pieces read straight into each candidate's reasoning 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606040"/>
            <a:ext cx="2569463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0.45 · Semantic
+ 0.55 · Rubric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what they did + structured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6432" y="2606040"/>
            <a:ext cx="38404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5A6485"/>
                </a:solidFill>
                <a:latin typeface="Calibri"/>
              </a:rP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13632" y="2606040"/>
            <a:ext cx="1325880" cy="1371600"/>
          </a:xfrm>
          <a:prstGeom prst="roundRect">
            <a:avLst>
              <a:gd name="adj" fmla="val 6000"/>
            </a:avLst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606040"/>
            <a:ext cx="110642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Disqualifier
gates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do-NOT-want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A6485"/>
                </a:solidFill>
                <a:latin typeface="Calibri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2606040"/>
            <a:ext cx="1325880" cy="1371600"/>
          </a:xfrm>
          <a:prstGeom prst="roundRect">
            <a:avLst>
              <a:gd name="adj" fmla="val 6000"/>
            </a:avLst>
          </a:prstGeom>
          <a:solidFill>
            <a:srgbClr val="1F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606040"/>
            <a:ext cx="110642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Behavioral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reachable?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606040"/>
            <a:ext cx="274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A6485"/>
                </a:solidFill>
                <a:latin typeface="Calibri"/>
              </a:rPr>
              <a:t>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4032" y="2606040"/>
            <a:ext cx="1325880" cy="137160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606040"/>
            <a:ext cx="110642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1B34"/>
                </a:solidFill>
                <a:latin typeface="Calibri"/>
              </a:rPr>
              <a:t>Location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41B34"/>
                </a:solidFill>
                <a:latin typeface="Calibri"/>
              </a:rPr>
              <a:t>Tier-1 / relocate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606040"/>
            <a:ext cx="274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A6485"/>
                </a:solidFill>
                <a:latin typeface="Calibri"/>
              </a:rPr>
              <a:t>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14232" y="2606040"/>
            <a:ext cx="1325880" cy="1371600"/>
          </a:xfrm>
          <a:prstGeom prst="roundRect">
            <a:avLst>
              <a:gd name="adj" fmla="val 6000"/>
            </a:avLst>
          </a:prstGeom>
          <a:solidFill>
            <a:srgbClr val="5A6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2606040"/>
            <a:ext cx="110642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Honeypot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sink impossible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112" y="2606040"/>
            <a:ext cx="274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A6485"/>
                </a:solidFill>
                <a:latin typeface="Calibri"/>
              </a:rPr>
              <a:t>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14432" y="2606040"/>
            <a:ext cx="1325880" cy="1371600"/>
          </a:xfrm>
          <a:prstGeom prst="roundRect">
            <a:avLst>
              <a:gd name="adj" fmla="val 6000"/>
            </a:avLst>
          </a:prstGeom>
          <a:solidFill>
            <a:srgbClr val="36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2606040"/>
            <a:ext cx="110642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Experience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soft 5–9y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44C66"/>
                </a:solidFill>
                <a:latin typeface="Calibri"/>
              </a:rPr>
              <a:t>Career evidence is weighted above the skills list (defeats stuffers, surfaces plain-language fits). The multipliers are the recruiter's judgment: the JD's explicit rejections, whether the person is actually available, and whether the profile is internally consistent.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A8A0"/>
                </a:solidFill>
                <a:latin typeface="Calibri"/>
              </a:rPr>
              <a:t>Pure standard-library Python — no model downloads, no API calls, fully auditable.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Read what they did, not what they tagged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485"/>
                </a:solidFill>
                <a:latin typeface="Calibri"/>
              </a:rPr>
              <a:t>The semantic signal is computed over career prose — summary + job descriptions — never the skills tags.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8920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A8A0"/>
                </a:solidFill>
                <a:latin typeface="Cambria"/>
              </a:rPr>
              <a:t>How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444C66"/>
                </a:solidFill>
                <a:latin typeface="Calibri"/>
              </a:rPr>
              <a:t>TF-IDF cosine between each candidate's narrative and a JD concept-query (retrieval, ranking, recommendation, embeddings, vector search, NDCG, production, NLP/IR).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A8A0"/>
                </a:solidFill>
                <a:latin typeface="Cambria"/>
              </a:rPr>
              <a:t>Why prose, not tags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444C66"/>
                </a:solidFill>
                <a:latin typeface="Calibri"/>
              </a:rPr>
              <a:t>A “Marketing Manager” can list every AI keyword. They can't fake “owned search relevance and shipped a re-ranker to production.” Prose is where real fit — and plain-language Tier-5s — 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5120640" cy="1143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2585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0.45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58568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weight on the semantic term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74720"/>
            <a:ext cx="5120640" cy="1143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58444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1,141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584448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term corpus vocabulary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800600"/>
            <a:ext cx="5120640" cy="1143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91032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prose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910328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summary + every job description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A structured rubric carries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485"/>
                </a:solidFill>
                <a:latin typeface="Calibri"/>
              </a:rPr>
              <a:t>55% of the base — domain evidence leads, role-fit guards against keyword stuffers.</a:t>
            </a:r>
          </a:p>
        </p:txBody>
      </p:sp>
      <p:pic>
        <p:nvPicPr>
          <p:cNvPr id="5" name="Picture 4" descr="chart_rub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6537960" cy="36263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69480" y="2057400"/>
            <a:ext cx="4297680" cy="39319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377440"/>
            <a:ext cx="37033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FA8A0"/>
                </a:solidFill>
                <a:latin typeface="Cambria"/>
              </a:rPr>
              <a:t>Skill-trust, not skill-count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4C66"/>
                </a:solidFill>
                <a:latin typeface="Calibri"/>
              </a:rPr>
              <a:t>Each core skill is weighted by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proficiency × √duration × endorsements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44C66"/>
                </a:solidFill>
                <a:latin typeface="Calibri"/>
              </a:rPr>
              <a:t>An “expert” skill with 0 months used and 0 endorsements counts as padding (×0.1) — so keyword stuffing earns almost nothing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The JD's “do NOT want,” encoded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485"/>
                </a:solidFill>
                <a:latin typeface="Calibri"/>
              </a:rPr>
              <a:t>Each rejection is a multiplicative penalty — strong elsewhere can still partly recover.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04288"/>
            <a:ext cx="548640" cy="548640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011680"/>
            <a:ext cx="3566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Pure research, no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011680"/>
            <a:ext cx="868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2574C"/>
                </a:solidFill>
                <a:latin typeface="Cambria"/>
              </a:rPr>
              <a:t>×0.30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60" y="2304288"/>
            <a:ext cx="548640" cy="548640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2011680"/>
            <a:ext cx="3566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Entire career at IT-services / 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2011680"/>
            <a:ext cx="868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2574C"/>
                </a:solidFill>
                <a:latin typeface="Cambria"/>
              </a:rPr>
              <a:t>×0.28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630168"/>
            <a:ext cx="548640" cy="548640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337560"/>
            <a:ext cx="3566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CV / speech / robotics, little NLP-IR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337560"/>
            <a:ext cx="868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2574C"/>
                </a:solidFill>
                <a:latin typeface="Cambria"/>
              </a:rPr>
              <a:t>×0.45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3756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60" y="3630168"/>
            <a:ext cx="548640" cy="548640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3337560"/>
            <a:ext cx="3566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AI = recent LangChain/OpenAI wrapping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3337560"/>
            <a:ext cx="868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2574C"/>
                </a:solidFill>
                <a:latin typeface="Cambria"/>
              </a:rPr>
              <a:t>×0.55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956048"/>
            <a:ext cx="548640" cy="548640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4663440"/>
            <a:ext cx="3566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Senior who no longer writes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663440"/>
            <a:ext cx="868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2574C"/>
                </a:solidFill>
                <a:latin typeface="Cambria"/>
              </a:rPr>
              <a:t>×0.62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66344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7960" y="4956048"/>
            <a:ext cx="548640" cy="548640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4663440"/>
            <a:ext cx="3566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Title-chaser — many short stints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4663440"/>
            <a:ext cx="868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2574C"/>
                </a:solidFill>
                <a:latin typeface="Cambria"/>
              </a:rPr>
              <a:t>×0.78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A perfect profile that's unreachable isn't a 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485"/>
                </a:solidFill>
                <a:latin typeface="Calibri"/>
              </a:rPr>
              <a:t>Activity recency, response rate, open-to-work and notice period modulate every score.</a:t>
            </a:r>
          </a:p>
        </p:txBody>
      </p:sp>
      <p:pic>
        <p:nvPicPr>
          <p:cNvPr id="5" name="Picture 4" descr="chart_down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0"/>
            <a:ext cx="6629400" cy="35803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2103120"/>
            <a:ext cx="4206240" cy="3840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423160"/>
            <a:ext cx="3611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C4B6"/>
                </a:solidFill>
                <a:latin typeface="Cambria"/>
              </a:rPr>
              <a:t>The JD is explicit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1">
                <a:solidFill>
                  <a:srgbClr val="CADCFC"/>
                </a:solidFill>
                <a:latin typeface="Calibri"/>
              </a:rPr>
              <a:t>“A perfect-on-paper candidate who hasn't logged in for 6 months and has a 5% response rate is, for hiring purposes, not actually available.”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Meta Lead AI Engineer and a Microsoft Senior NLP Engineer both fall below the top-100 cutoff — on availability alone, not skill.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Reading for consistency, not keywords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485"/>
                </a:solidFill>
                <a:latin typeface="Calibri"/>
              </a:rPr>
              <a:t>Honeypots are caught by internal contradictions — no special-casing, just careful reading.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6492240" cy="7315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57984"/>
            <a:ext cx="438912" cy="438912"/>
          </a:xfrm>
          <a:prstGeom prst="ellipse">
            <a:avLst/>
          </a:prstGeom>
          <a:solidFill>
            <a:srgbClr val="5A6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11680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E2761"/>
                </a:solidFill>
                <a:latin typeface="Calibri"/>
              </a:rPr>
              <a:t>Tenure exceeds experience — role months sum to more years than the stated career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6492240" cy="7315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999232"/>
            <a:ext cx="438912" cy="438912"/>
          </a:xfrm>
          <a:prstGeom prst="ellipse">
            <a:avLst/>
          </a:prstGeom>
          <a:solidFill>
            <a:srgbClr val="5A6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52928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E2761"/>
                </a:solidFill>
                <a:latin typeface="Calibri"/>
              </a:rPr>
              <a:t>Dates contradict duration — duration_months disagrees with start/end by &gt;18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94176"/>
            <a:ext cx="6492240" cy="7315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840480"/>
            <a:ext cx="438912" cy="438912"/>
          </a:xfrm>
          <a:prstGeom prst="ellipse">
            <a:avLst/>
          </a:prstGeom>
          <a:solidFill>
            <a:srgbClr val="5A6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94176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E2761"/>
                </a:solidFill>
                <a:latin typeface="Calibri"/>
              </a:rPr>
              <a:t>Ghost “expert” skills — 4+ advanced/expert skills with 0 months and 0 endorsements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6492240" cy="7315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681728"/>
            <a:ext cx="438912" cy="438912"/>
          </a:xfrm>
          <a:prstGeom prst="ellipse">
            <a:avLst/>
          </a:prstGeom>
          <a:solidFill>
            <a:srgbClr val="5A6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35424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E2761"/>
                </a:solidFill>
                <a:latin typeface="Calibri"/>
              </a:rPr>
              <a:t>A single role longer than the whole career — impossible by construction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011680"/>
            <a:ext cx="4206240" cy="3291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37744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2EC4B6"/>
                </a:solidFill>
                <a:latin typeface="Cambria"/>
              </a:rPr>
              <a:t>0 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611880"/>
            <a:ext cx="3657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honeypots in our top 100.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Flagged profiles are multiplied by 0.02 and sink. (&gt;10% in the top 100 is an automatic disqualification.)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The shortlist a recruiter can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485"/>
                </a:solidFill>
                <a:latin typeface="Calibri"/>
              </a:rPr>
              <a:t>Top of the list: Zomato, Genpact AI, Razorpay, Paytm, Salesforce, Sarvam AI, CRED, Ola.</a:t>
            </a:r>
          </a:p>
        </p:txBody>
      </p:sp>
      <p:pic>
        <p:nvPicPr>
          <p:cNvPr id="5" name="Picture 4" descr="chart_tit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6583680" cy="34520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205740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25856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761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971800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66"/>
                </a:solidFill>
                <a:latin typeface="Calibri"/>
              </a:rPr>
              <a:t>non-engineering titles in the top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205740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225856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761"/>
                </a:solidFill>
                <a:latin typeface="Cambria"/>
              </a:rPr>
              <a:t>88/100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971800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66"/>
                </a:solidFill>
                <a:latin typeface="Calibri"/>
              </a:rPr>
              <a:t>inside the 5–9 year band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02336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422452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761"/>
                </a:solidFill>
                <a:latin typeface="Cambria"/>
              </a:rPr>
              <a:t>47 + 51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937760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66"/>
                </a:solidFill>
                <a:latin typeface="Calibri"/>
              </a:rPr>
              <a:t>in Tier-1 cities / willing to relocate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402336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422452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761"/>
                </a:solidFill>
                <a:latin typeface="Cambria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937760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66"/>
                </a:solidFill>
                <a:latin typeface="Calibri"/>
              </a:rPr>
              <a:t>unique, specific reasoning 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Production-grade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Built for the constraint the JD actually cares about: scale, not a benchmark.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32888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C4B6"/>
                </a:solidFill>
                <a:latin typeface="Cambria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third-party deps in the ranking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3317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32888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C4B6"/>
                </a:solidFill>
                <a:latin typeface="Cambria"/>
              </a:rP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2461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no GPU, no network, no API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3317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32888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C4B6"/>
                </a:solidFill>
                <a:latin typeface="Cambria"/>
              </a:rPr>
              <a:t>~2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to rank all 100,000 candidates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C4B6"/>
                </a:solidFill>
                <a:latin typeface="Cambria"/>
              </a:rPr>
              <a:t>&lt; 1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RAM — two streaming passes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1148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315968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C4B6"/>
                </a:solidFill>
                <a:latin typeface="Cambria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0292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command reproduces submission.csv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1148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315968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C4B6"/>
                </a:solidFill>
                <a:latin typeface="Cambria"/>
              </a:rPr>
              <a:t>stdlib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0292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fully auditable, trivially reproducible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914400"/>
            <a:ext cx="457200" cy="457200"/>
          </a:xfrm>
          <a:prstGeom prst="ellipse">
            <a:avLst/>
          </a:prstGeom>
          <a:solidFill>
            <a:srgbClr val="1F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17320" y="1325880"/>
            <a:ext cx="237744" cy="237744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146304" cy="146304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Understand the role. Read the career. Down-weight the unreachable.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That's how a great recruiter works — and it's exactly what this ranker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C4B6"/>
                </a:solidFill>
                <a:latin typeface="Calibri"/>
              </a:rPr>
              <a:t>Delivered:  clean GitHub repo  ·  top-100 submission.csv  ·  runnable Colab sandbox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